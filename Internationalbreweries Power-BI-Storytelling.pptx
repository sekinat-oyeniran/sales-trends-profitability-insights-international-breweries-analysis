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61" r:id="rId6"/>
    <p:sldId id="262" r:id="rId7"/>
  </p:sldIdLst>
  <p:sldSz cx="12192000" cy="6858000"/>
  <p:notesSz cx="6858000" cy="9144000"/>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51"/>
    <p:restoredTop sz="94647"/>
  </p:normalViewPr>
  <p:slideViewPr>
    <p:cSldViewPr snapToGrid="0" snapToObjects="1">
      <p:cViewPr varScale="1">
        <p:scale>
          <a:sx n="82" d="100"/>
          <a:sy n="82" d="100"/>
        </p:scale>
        <p:origin x="6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3/7/2025</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3/7/2025</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3/7/2025</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3/7/2025</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3/7/2025</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3/7/2025</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3/7/2025</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3/7/2025</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3/7/2025</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3/7/2025</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3/7/2025</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3/7/2025</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1/relationships/webextension" Target="../webextensions/webextension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1/relationships/webextension" Target="../webextensions/webextension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1/relationships/webextension" Target="../webextensions/webextension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C90819F-F749-086B-5FB7-5BE5E63D309F}"/>
              </a:ext>
            </a:extLst>
          </p:cNvPr>
          <p:cNvSpPr txBox="1"/>
          <p:nvPr/>
        </p:nvSpPr>
        <p:spPr>
          <a:xfrm>
            <a:off x="721012" y="65310"/>
            <a:ext cx="10749976" cy="369332"/>
          </a:xfrm>
          <a:prstGeom prst="rect">
            <a:avLst/>
          </a:prstGeom>
          <a:noFill/>
        </p:spPr>
        <p:txBody>
          <a:bodyPr wrap="square" rtlCol="0">
            <a:spAutoFit/>
          </a:bodyPr>
          <a:lstStyle/>
          <a:p>
            <a:pPr algn="ctr"/>
            <a:r>
              <a:rPr lang="en-GB" b="1" dirty="0"/>
              <a:t>POWERPOINT PRESENTATION</a:t>
            </a:r>
          </a:p>
        </p:txBody>
      </p:sp>
      <p:sp>
        <p:nvSpPr>
          <p:cNvPr id="11" name="TextBox 10">
            <a:extLst>
              <a:ext uri="{FF2B5EF4-FFF2-40B4-BE49-F238E27FC236}">
                <a16:creationId xmlns:a16="http://schemas.microsoft.com/office/drawing/2014/main" id="{A29787EA-B425-5C2D-AEE6-75604C832F8B}"/>
              </a:ext>
            </a:extLst>
          </p:cNvPr>
          <p:cNvSpPr txBox="1"/>
          <p:nvPr/>
        </p:nvSpPr>
        <p:spPr>
          <a:xfrm>
            <a:off x="3788228" y="6176942"/>
            <a:ext cx="7613779" cy="984885"/>
          </a:xfrm>
          <a:prstGeom prst="rect">
            <a:avLst/>
          </a:prstGeom>
          <a:noFill/>
        </p:spPr>
        <p:txBody>
          <a:bodyPr wrap="square" rtlCol="0">
            <a:spAutoFit/>
          </a:bodyPr>
          <a:lstStyle/>
          <a:p>
            <a:pPr algn="just"/>
            <a:r>
              <a:rPr lang="en-GB" sz="1000" dirty="0">
                <a:ea typeface="Calibri" panose="020F0502020204030204" pitchFamily="34" charset="0"/>
              </a:rPr>
              <a:t>In 2019, Hero and Grand Malt emerged as the highest-selling brands, while Castle Lite and Budweiser - previous top sellers - recorded the lowest quantities sold. This shift contributed to the observed decline in profit  Additionally, there is a strong correlation between the quantity of brands sold, total profit, and total cost. As the quantity sold increases, both total profit and total cost tend to rise in tandem, reflecting the impact of sales volume on profitability and operational expenses.</a:t>
            </a:r>
          </a:p>
          <a:p>
            <a:endParaRPr lang="en-GB" dirty="0"/>
          </a:p>
        </p:txBody>
      </p:sp>
      <p:sp>
        <p:nvSpPr>
          <p:cNvPr id="12" name="Oval 11">
            <a:extLst>
              <a:ext uri="{FF2B5EF4-FFF2-40B4-BE49-F238E27FC236}">
                <a16:creationId xmlns:a16="http://schemas.microsoft.com/office/drawing/2014/main" id="{326AAE9B-DD3A-3998-9372-C8CD6CAFD266}"/>
              </a:ext>
            </a:extLst>
          </p:cNvPr>
          <p:cNvSpPr/>
          <p:nvPr/>
        </p:nvSpPr>
        <p:spPr>
          <a:xfrm>
            <a:off x="569167" y="6236742"/>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2017</a:t>
            </a:r>
          </a:p>
          <a:p>
            <a:pPr algn="ctr"/>
            <a:r>
              <a:rPr lang="en-GB" sz="1200" b="1" dirty="0">
                <a:solidFill>
                  <a:schemeClr val="tx1"/>
                </a:solidFill>
              </a:rPr>
              <a:t>36.47%</a:t>
            </a:r>
            <a:endParaRPr lang="en-GB" sz="1200" b="1" dirty="0"/>
          </a:p>
        </p:txBody>
      </p:sp>
      <p:sp>
        <p:nvSpPr>
          <p:cNvPr id="13" name="Oval 12">
            <a:extLst>
              <a:ext uri="{FF2B5EF4-FFF2-40B4-BE49-F238E27FC236}">
                <a16:creationId xmlns:a16="http://schemas.microsoft.com/office/drawing/2014/main" id="{3A1FF36D-E146-9FA1-9CEC-998A656CB224}"/>
              </a:ext>
            </a:extLst>
          </p:cNvPr>
          <p:cNvSpPr/>
          <p:nvPr/>
        </p:nvSpPr>
        <p:spPr>
          <a:xfrm>
            <a:off x="1663959" y="6232511"/>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2018</a:t>
            </a:r>
          </a:p>
          <a:p>
            <a:pPr algn="ctr"/>
            <a:r>
              <a:rPr lang="en-GB" sz="1200" b="1" dirty="0">
                <a:solidFill>
                  <a:schemeClr val="tx1"/>
                </a:solidFill>
              </a:rPr>
              <a:t>35.10%</a:t>
            </a:r>
            <a:endParaRPr lang="en-GB" sz="1200" b="1" dirty="0"/>
          </a:p>
        </p:txBody>
      </p:sp>
      <p:sp>
        <p:nvSpPr>
          <p:cNvPr id="14" name="Oval 13">
            <a:extLst>
              <a:ext uri="{FF2B5EF4-FFF2-40B4-BE49-F238E27FC236}">
                <a16:creationId xmlns:a16="http://schemas.microsoft.com/office/drawing/2014/main" id="{E9916472-EC8C-09DA-B5E5-FA29DC43DA2C}"/>
              </a:ext>
            </a:extLst>
          </p:cNvPr>
          <p:cNvSpPr/>
          <p:nvPr/>
        </p:nvSpPr>
        <p:spPr>
          <a:xfrm>
            <a:off x="2758751" y="6214276"/>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2019</a:t>
            </a:r>
          </a:p>
          <a:p>
            <a:pPr algn="ctr"/>
            <a:r>
              <a:rPr lang="en-GB" sz="1200" b="1" dirty="0">
                <a:solidFill>
                  <a:schemeClr val="tx1"/>
                </a:solidFill>
              </a:rPr>
              <a:t>28.43%</a:t>
            </a:r>
            <a:endParaRPr lang="en-GB" sz="1200" b="1"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descr="Add-in content for Microsoft Power BI.">
                <a:extLst>
                  <a:ext uri="{FF2B5EF4-FFF2-40B4-BE49-F238E27FC236}">
                    <a16:creationId xmlns:a16="http://schemas.microsoft.com/office/drawing/2014/main" id="{716EBB4C-122F-DE52-A257-14C5813A4EE5}"/>
                  </a:ext>
                </a:extLst>
              </p:cNvPr>
              <p:cNvGraphicFramePr>
                <a:graphicFrameLocks noGrp="1"/>
              </p:cNvGraphicFramePr>
              <p:nvPr>
                <p:extLst>
                  <p:ext uri="{D42A27DB-BD31-4B8C-83A1-F6EECF244321}">
                    <p14:modId xmlns:p14="http://schemas.microsoft.com/office/powerpoint/2010/main" val="939603982"/>
                  </p:ext>
                </p:extLst>
              </p:nvPr>
            </p:nvGraphicFramePr>
            <p:xfrm>
              <a:off x="569167" y="476517"/>
              <a:ext cx="10749976" cy="53357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Add-in" descr="Add-in content for Microsoft Power BI.">
                <a:extLst>
                  <a:ext uri="{FF2B5EF4-FFF2-40B4-BE49-F238E27FC236}">
                    <a16:creationId xmlns:a16="http://schemas.microsoft.com/office/drawing/2014/main" id="{716EBB4C-122F-DE52-A257-14C5813A4EE5}"/>
                  </a:ext>
                </a:extLst>
              </p:cNvPr>
              <p:cNvPicPr>
                <a:picLocks noGrp="1" noRot="1" noChangeAspect="1" noMove="1" noResize="1" noEditPoints="1" noAdjustHandles="1" noChangeArrowheads="1" noChangeShapeType="1"/>
              </p:cNvPicPr>
              <p:nvPr/>
            </p:nvPicPr>
            <p:blipFill>
              <a:blip r:embed="rId3"/>
              <a:stretch>
                <a:fillRect/>
              </a:stretch>
            </p:blipFill>
            <p:spPr>
              <a:xfrm>
                <a:off x="569167" y="476517"/>
                <a:ext cx="10749976" cy="5335725"/>
              </a:xfrm>
              <a:prstGeom prst="rect">
                <a:avLst/>
              </a:prstGeom>
            </p:spPr>
          </p:pic>
        </mc:Fallback>
      </mc:AlternateContent>
    </p:spTree>
    <p:extLst>
      <p:ext uri="{BB962C8B-B14F-4D97-AF65-F5344CB8AC3E}">
        <p14:creationId xmlns:p14="http://schemas.microsoft.com/office/powerpoint/2010/main" val="3211859542"/>
      </p:ext>
    </p:extLst>
  </p:cSld>
  <p:clrMapOvr>
    <a:masterClrMapping/>
  </p:clrMapOvr>
  <mc:AlternateContent xmlns:mc="http://schemas.openxmlformats.org/markup-compatibility/2006" xmlns:p14="http://schemas.microsoft.com/office/powerpoint/2010/main">
    <mc:Choice Requires="p14">
      <p:transition spd="slow" p14:dur="2000" advTm="123173"/>
    </mc:Choice>
    <mc:Fallback xmlns="">
      <p:transition spd="slow" advTm="12317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9A80E1-0B93-97D3-8AA1-E5D51EF7FC1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A1C2FB5-762C-FE5E-D562-07ABE2639773}"/>
              </a:ext>
            </a:extLst>
          </p:cNvPr>
          <p:cNvSpPr txBox="1"/>
          <p:nvPr/>
        </p:nvSpPr>
        <p:spPr>
          <a:xfrm>
            <a:off x="721012" y="65310"/>
            <a:ext cx="10749976" cy="369332"/>
          </a:xfrm>
          <a:prstGeom prst="rect">
            <a:avLst/>
          </a:prstGeom>
          <a:noFill/>
        </p:spPr>
        <p:txBody>
          <a:bodyPr wrap="square" rtlCol="0">
            <a:spAutoFit/>
          </a:bodyPr>
          <a:lstStyle/>
          <a:p>
            <a:pPr algn="ctr"/>
            <a:r>
              <a:rPr lang="en-GB" b="1" dirty="0"/>
              <a:t>POWERPOINT PRESENTATION</a:t>
            </a:r>
          </a:p>
        </p:txBody>
      </p:sp>
      <p:sp>
        <p:nvSpPr>
          <p:cNvPr id="11" name="TextBox 10">
            <a:extLst>
              <a:ext uri="{FF2B5EF4-FFF2-40B4-BE49-F238E27FC236}">
                <a16:creationId xmlns:a16="http://schemas.microsoft.com/office/drawing/2014/main" id="{9F6E6605-0D7F-A526-452E-0028E64B8DCE}"/>
              </a:ext>
            </a:extLst>
          </p:cNvPr>
          <p:cNvSpPr txBox="1"/>
          <p:nvPr/>
        </p:nvSpPr>
        <p:spPr>
          <a:xfrm>
            <a:off x="5797685" y="6176942"/>
            <a:ext cx="5825148" cy="1138773"/>
          </a:xfrm>
          <a:prstGeom prst="rect">
            <a:avLst/>
          </a:prstGeom>
          <a:noFill/>
        </p:spPr>
        <p:txBody>
          <a:bodyPr wrap="square" rtlCol="0">
            <a:spAutoFit/>
          </a:bodyPr>
          <a:lstStyle/>
          <a:p>
            <a:pPr algn="just"/>
            <a:r>
              <a:rPr lang="en-GB" sz="1000" dirty="0">
                <a:ea typeface="Calibri" panose="020F0502020204030204" pitchFamily="34" charset="0"/>
              </a:rPr>
              <a:t>Benin and Togo underperformed primarily because the least-selling brands are currently the most popular or highest-selling in these markets. To address this, it is crucial to tailor advertising campaigns that resonate with local preferences and consumer behaviour. Additionally, introducing sampling campaigns can help boost awareness and encourage trials of more popular brands, driving both interest and sales.                                </a:t>
            </a:r>
          </a:p>
          <a:p>
            <a:pPr algn="just"/>
            <a:endParaRPr lang="en-GB" sz="1000" dirty="0">
              <a:ea typeface="Calibri" panose="020F0502020204030204" pitchFamily="34" charset="0"/>
            </a:endParaRPr>
          </a:p>
          <a:p>
            <a:endParaRPr lang="en-GB" dirty="0"/>
          </a:p>
        </p:txBody>
      </p:sp>
      <p:sp>
        <p:nvSpPr>
          <p:cNvPr id="12" name="Oval 11">
            <a:extLst>
              <a:ext uri="{FF2B5EF4-FFF2-40B4-BE49-F238E27FC236}">
                <a16:creationId xmlns:a16="http://schemas.microsoft.com/office/drawing/2014/main" id="{BFB9DCD3-11C8-A4F4-9538-E5CAD9F8F67B}"/>
              </a:ext>
            </a:extLst>
          </p:cNvPr>
          <p:cNvSpPr/>
          <p:nvPr/>
        </p:nvSpPr>
        <p:spPr>
          <a:xfrm>
            <a:off x="569167" y="6236742"/>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Senegal</a:t>
            </a:r>
          </a:p>
          <a:p>
            <a:pPr algn="ctr"/>
            <a:r>
              <a:rPr lang="en-GB" sz="1200" b="1" dirty="0">
                <a:solidFill>
                  <a:schemeClr val="tx1"/>
                </a:solidFill>
              </a:rPr>
              <a:t>20.35%</a:t>
            </a:r>
            <a:endParaRPr lang="en-GB" sz="1200" b="1" dirty="0"/>
          </a:p>
        </p:txBody>
      </p:sp>
      <p:sp>
        <p:nvSpPr>
          <p:cNvPr id="13" name="Oval 12">
            <a:extLst>
              <a:ext uri="{FF2B5EF4-FFF2-40B4-BE49-F238E27FC236}">
                <a16:creationId xmlns:a16="http://schemas.microsoft.com/office/drawing/2014/main" id="{06905870-415D-7F50-7FEE-D13D60F4CDB0}"/>
              </a:ext>
            </a:extLst>
          </p:cNvPr>
          <p:cNvSpPr/>
          <p:nvPr/>
        </p:nvSpPr>
        <p:spPr>
          <a:xfrm>
            <a:off x="1634775" y="6232511"/>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Nigeria</a:t>
            </a:r>
          </a:p>
          <a:p>
            <a:pPr algn="ctr"/>
            <a:r>
              <a:rPr lang="en-GB" sz="1200" b="1" dirty="0">
                <a:solidFill>
                  <a:schemeClr val="tx1"/>
                </a:solidFill>
              </a:rPr>
              <a:t>20.25%</a:t>
            </a:r>
            <a:endParaRPr lang="en-GB" sz="1200" b="1" dirty="0"/>
          </a:p>
        </p:txBody>
      </p:sp>
      <p:sp>
        <p:nvSpPr>
          <p:cNvPr id="14" name="Oval 13">
            <a:extLst>
              <a:ext uri="{FF2B5EF4-FFF2-40B4-BE49-F238E27FC236}">
                <a16:creationId xmlns:a16="http://schemas.microsoft.com/office/drawing/2014/main" id="{3DE66B54-D279-BFD5-6DFC-8F4EBB3A3E5B}"/>
              </a:ext>
            </a:extLst>
          </p:cNvPr>
          <p:cNvSpPr/>
          <p:nvPr/>
        </p:nvSpPr>
        <p:spPr>
          <a:xfrm>
            <a:off x="2710111" y="6214276"/>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Ghana</a:t>
            </a:r>
          </a:p>
          <a:p>
            <a:pPr algn="ctr"/>
            <a:r>
              <a:rPr lang="en-GB" sz="1200" b="1" dirty="0">
                <a:solidFill>
                  <a:schemeClr val="tx1"/>
                </a:solidFill>
              </a:rPr>
              <a:t>19.90%</a:t>
            </a:r>
            <a:endParaRPr lang="en-GB" sz="1200" b="1"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descr="Add-in content for Microsoft Power BI.">
                <a:extLst>
                  <a:ext uri="{FF2B5EF4-FFF2-40B4-BE49-F238E27FC236}">
                    <a16:creationId xmlns:a16="http://schemas.microsoft.com/office/drawing/2014/main" id="{8BF01C66-E1A5-3903-A10F-4E318887A700}"/>
                  </a:ext>
                </a:extLst>
              </p:cNvPr>
              <p:cNvGraphicFramePr>
                <a:graphicFrameLocks noGrp="1"/>
              </p:cNvGraphicFramePr>
              <p:nvPr>
                <p:extLst>
                  <p:ext uri="{D42A27DB-BD31-4B8C-83A1-F6EECF244321}">
                    <p14:modId xmlns:p14="http://schemas.microsoft.com/office/powerpoint/2010/main" val="3661661614"/>
                  </p:ext>
                </p:extLst>
              </p:nvPr>
            </p:nvGraphicFramePr>
            <p:xfrm>
              <a:off x="569167" y="587218"/>
              <a:ext cx="10901821" cy="53357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Add-in" descr="Add-in content for Microsoft Power BI.">
                <a:extLst>
                  <a:ext uri="{FF2B5EF4-FFF2-40B4-BE49-F238E27FC236}">
                    <a16:creationId xmlns:a16="http://schemas.microsoft.com/office/drawing/2014/main" id="{8BF01C66-E1A5-3903-A10F-4E318887A700}"/>
                  </a:ext>
                </a:extLst>
              </p:cNvPr>
              <p:cNvPicPr>
                <a:picLocks noGrp="1" noRot="1" noChangeAspect="1" noMove="1" noResize="1" noEditPoints="1" noAdjustHandles="1" noChangeArrowheads="1" noChangeShapeType="1"/>
              </p:cNvPicPr>
              <p:nvPr/>
            </p:nvPicPr>
            <p:blipFill>
              <a:blip r:embed="rId3"/>
              <a:stretch>
                <a:fillRect/>
              </a:stretch>
            </p:blipFill>
            <p:spPr>
              <a:xfrm>
                <a:off x="569167" y="587218"/>
                <a:ext cx="10901821" cy="5335725"/>
              </a:xfrm>
              <a:prstGeom prst="rect">
                <a:avLst/>
              </a:prstGeom>
            </p:spPr>
          </p:pic>
        </mc:Fallback>
      </mc:AlternateContent>
      <p:sp>
        <p:nvSpPr>
          <p:cNvPr id="7" name="Oval 6">
            <a:extLst>
              <a:ext uri="{FF2B5EF4-FFF2-40B4-BE49-F238E27FC236}">
                <a16:creationId xmlns:a16="http://schemas.microsoft.com/office/drawing/2014/main" id="{E3B91848-A1B1-B345-D3B5-0BAFEF7D6451}"/>
              </a:ext>
            </a:extLst>
          </p:cNvPr>
          <p:cNvSpPr/>
          <p:nvPr/>
        </p:nvSpPr>
        <p:spPr>
          <a:xfrm>
            <a:off x="3779955" y="6232511"/>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Benin</a:t>
            </a:r>
          </a:p>
          <a:p>
            <a:pPr algn="ctr"/>
            <a:r>
              <a:rPr lang="en-GB" sz="1200" b="1" dirty="0">
                <a:solidFill>
                  <a:schemeClr val="tx1"/>
                </a:solidFill>
              </a:rPr>
              <a:t>19.85%</a:t>
            </a:r>
            <a:endParaRPr lang="en-GB" sz="1200" b="1" dirty="0"/>
          </a:p>
        </p:txBody>
      </p:sp>
      <p:sp>
        <p:nvSpPr>
          <p:cNvPr id="9" name="Oval 8">
            <a:extLst>
              <a:ext uri="{FF2B5EF4-FFF2-40B4-BE49-F238E27FC236}">
                <a16:creationId xmlns:a16="http://schemas.microsoft.com/office/drawing/2014/main" id="{52455E0A-87EC-97C8-57BE-FF4F30ADBABB}"/>
              </a:ext>
            </a:extLst>
          </p:cNvPr>
          <p:cNvSpPr/>
          <p:nvPr/>
        </p:nvSpPr>
        <p:spPr>
          <a:xfrm>
            <a:off x="4827301" y="6204427"/>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Togo</a:t>
            </a:r>
          </a:p>
          <a:p>
            <a:pPr algn="ctr"/>
            <a:r>
              <a:rPr lang="en-GB" sz="1200" b="1" dirty="0">
                <a:solidFill>
                  <a:schemeClr val="tx1"/>
                </a:solidFill>
              </a:rPr>
              <a:t>19.65%</a:t>
            </a:r>
            <a:endParaRPr lang="en-GB" sz="1200" b="1" dirty="0"/>
          </a:p>
        </p:txBody>
      </p:sp>
    </p:spTree>
    <p:extLst>
      <p:ext uri="{BB962C8B-B14F-4D97-AF65-F5344CB8AC3E}">
        <p14:creationId xmlns:p14="http://schemas.microsoft.com/office/powerpoint/2010/main" val="377350749"/>
      </p:ext>
    </p:extLst>
  </p:cSld>
  <p:clrMapOvr>
    <a:masterClrMapping/>
  </p:clrMapOvr>
  <mc:AlternateContent xmlns:mc="http://schemas.openxmlformats.org/markup-compatibility/2006" xmlns:p14="http://schemas.microsoft.com/office/powerpoint/2010/main">
    <mc:Choice Requires="p14">
      <p:transition spd="slow" p14:dur="2000" advTm="135083"/>
    </mc:Choice>
    <mc:Fallback xmlns="">
      <p:transition spd="slow" advTm="13508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C4A438-A591-9681-CC53-2129253BFC4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C693914-13F0-358F-04C9-4E267EB10549}"/>
              </a:ext>
            </a:extLst>
          </p:cNvPr>
          <p:cNvSpPr txBox="1"/>
          <p:nvPr/>
        </p:nvSpPr>
        <p:spPr>
          <a:xfrm>
            <a:off x="721012" y="65310"/>
            <a:ext cx="10749976" cy="369332"/>
          </a:xfrm>
          <a:prstGeom prst="rect">
            <a:avLst/>
          </a:prstGeom>
          <a:noFill/>
        </p:spPr>
        <p:txBody>
          <a:bodyPr wrap="square" rtlCol="0">
            <a:spAutoFit/>
          </a:bodyPr>
          <a:lstStyle/>
          <a:p>
            <a:pPr algn="ctr"/>
            <a:r>
              <a:rPr lang="en-GB" b="1" dirty="0"/>
              <a:t>POWERPOINT PRESENTATION</a:t>
            </a:r>
          </a:p>
        </p:txBody>
      </p:sp>
      <p:sp>
        <p:nvSpPr>
          <p:cNvPr id="11" name="TextBox 10">
            <a:extLst>
              <a:ext uri="{FF2B5EF4-FFF2-40B4-BE49-F238E27FC236}">
                <a16:creationId xmlns:a16="http://schemas.microsoft.com/office/drawing/2014/main" id="{4B8F4EFB-D7A3-3AA6-DBF1-9B7DF4374BB8}"/>
              </a:ext>
            </a:extLst>
          </p:cNvPr>
          <p:cNvSpPr txBox="1"/>
          <p:nvPr/>
        </p:nvSpPr>
        <p:spPr>
          <a:xfrm>
            <a:off x="544750" y="6176942"/>
            <a:ext cx="10857258" cy="553998"/>
          </a:xfrm>
          <a:prstGeom prst="rect">
            <a:avLst/>
          </a:prstGeom>
          <a:noFill/>
        </p:spPr>
        <p:txBody>
          <a:bodyPr wrap="square" rtlCol="0">
            <a:spAutoFit/>
          </a:bodyPr>
          <a:lstStyle/>
          <a:p>
            <a:pPr algn="just"/>
            <a:r>
              <a:rPr lang="en-GB" sz="1000" dirty="0"/>
              <a:t>Our data indicates that beer sales peak between December and March, aligning with the dry season. This suggests that weather patterns significantly influence beer consumption habits. Brands could capitalize on this trend by launching promotional campaigns ahead of peak sales months to maximize revenue. March recorded the highest profit (#9.07M), while April had the lowest (#8.57M).</a:t>
            </a:r>
            <a:br>
              <a:rPr lang="en-GB" sz="1000" dirty="0"/>
            </a:br>
            <a:r>
              <a:rPr lang="en-GB" sz="1000" dirty="0"/>
              <a:t>Sales increase significantly during the dry season (December-March), driving higher profits. Conversely, sales decline during the rainy season (April-October), reflecting seasonal demand shifts.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descr="Add-in content for Microsoft Power BI.">
                <a:extLst>
                  <a:ext uri="{FF2B5EF4-FFF2-40B4-BE49-F238E27FC236}">
                    <a16:creationId xmlns:a16="http://schemas.microsoft.com/office/drawing/2014/main" id="{E01DFDDA-4CE4-0DDD-C80A-EB6DB641CAB0}"/>
                  </a:ext>
                </a:extLst>
              </p:cNvPr>
              <p:cNvGraphicFramePr>
                <a:graphicFrameLocks noGrp="1"/>
              </p:cNvGraphicFramePr>
              <p:nvPr>
                <p:extLst>
                  <p:ext uri="{D42A27DB-BD31-4B8C-83A1-F6EECF244321}">
                    <p14:modId xmlns:p14="http://schemas.microsoft.com/office/powerpoint/2010/main" val="1528006197"/>
                  </p:ext>
                </p:extLst>
              </p:nvPr>
            </p:nvGraphicFramePr>
            <p:xfrm>
              <a:off x="652032" y="637929"/>
              <a:ext cx="10749976" cy="53357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Add-in" descr="Add-in content for Microsoft Power BI.">
                <a:extLst>
                  <a:ext uri="{FF2B5EF4-FFF2-40B4-BE49-F238E27FC236}">
                    <a16:creationId xmlns:a16="http://schemas.microsoft.com/office/drawing/2014/main" id="{E01DFDDA-4CE4-0DDD-C80A-EB6DB641CAB0}"/>
                  </a:ext>
                </a:extLst>
              </p:cNvPr>
              <p:cNvPicPr>
                <a:picLocks noGrp="1" noRot="1" noChangeAspect="1" noMove="1" noResize="1" noEditPoints="1" noAdjustHandles="1" noChangeArrowheads="1" noChangeShapeType="1"/>
              </p:cNvPicPr>
              <p:nvPr/>
            </p:nvPicPr>
            <p:blipFill>
              <a:blip r:embed="rId3"/>
              <a:stretch>
                <a:fillRect/>
              </a:stretch>
            </p:blipFill>
            <p:spPr>
              <a:xfrm>
                <a:off x="652032" y="637929"/>
                <a:ext cx="10749976" cy="5335725"/>
              </a:xfrm>
              <a:prstGeom prst="rect">
                <a:avLst/>
              </a:prstGeom>
            </p:spPr>
          </p:pic>
        </mc:Fallback>
      </mc:AlternateContent>
    </p:spTree>
    <p:extLst>
      <p:ext uri="{BB962C8B-B14F-4D97-AF65-F5344CB8AC3E}">
        <p14:creationId xmlns:p14="http://schemas.microsoft.com/office/powerpoint/2010/main" val="321775785"/>
      </p:ext>
    </p:extLst>
  </p:cSld>
  <p:clrMapOvr>
    <a:masterClrMapping/>
  </p:clrMapOvr>
  <mc:AlternateContent xmlns:mc="http://schemas.openxmlformats.org/markup-compatibility/2006" xmlns:p14="http://schemas.microsoft.com/office/powerpoint/2010/main">
    <mc:Choice Requires="p14">
      <p:transition spd="slow" p14:dur="2000" advTm="47825"/>
    </mc:Choice>
    <mc:Fallback xmlns="">
      <p:transition spd="slow" advTm="47825"/>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LE_NAME_PARSED_KEY"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webextension1.xml><?xml version="1.0" encoding="utf-8"?>
<we:webextension xmlns:we="http://schemas.microsoft.com/office/webextensions/webextension/2010/11" id="{542A2A72-FD51-4116-9A79-4D5507F0B11A}">
  <we:reference id="WA200003233" version="2.0.0.3" store="en-US" storeType="OMEX"/>
  <we:alternateReferences/>
  <we:properties>
    <we:property name="Microsoft.Office.CampaignId" value="&quot;none&quot;"/>
    <we:property name="artifactViewState" value="&quot;live&quot;"/>
    <we:property name="backgroundColor" value="&quot;#FFFFFF&quot;"/>
    <we:property name="bookmark" value="&quot;H4sIAAAAAAAAA+1a32/bNhD+Vwa99MUYJFKipLw5jjsE6BLPzooVRRDwx9FRK0sGRSdxA//vO1FOFqd22nhxZrV7C8nT8e6+j3fkObeeyqppzucnfALegXdYlp8n3Hz+JfA6XtHMJUGUJJKD1rEiQnMVg8LVcmqzsqi8g1vPcjMG+z6rZjyvFeHkx/OOx/N8wMf1SPO8go43BVOVBc+zL9AI45I1M1h0PLiZ5qXhtcqR5RZqtVcojmM0IfiV4o5c2uwKRiBtM6sVC4TP0LTIVxGEACJBsaoRcJatFalVu+17ZWF5VuA2TjZMFEt5qJKYqCT1Yyq5m89yuxQR8/7N1KB36PN8Wgenq654IV1A0AUDVWPxrdcdjw2MuV0O+yuLvTKfTdbMj8qZkTAE7ZYKm9k57nFc4P6FU8XzQwPXYDKM6gLDNjAlBtVJ/Y7OXF6U+sJewsUcuHECb2fFMlykHl6W1z0DGF/lHfiLc5ypsmKcL+H4JzJnjXeSGwe1+IQxrSOAH5RGgTmcuyAcZeYODdJ55Ms+BgA9xikigMeSslQGvl/TOklFi4AeDE/fHp89cs7/Gt3Ove09nBqXJpMI8WPzd2Hh4bB7cjTytiDcNUoazBZ575Ib2xrqbYJkcX6XtVD404O8tESkcWWnECDjcSUOIh4IHSrNQyo1IyyktdYnwcgmmL1XMah1yZTIgEcQQMqigKcgSfRNXRZurChvvtaWCtSHdkUgKUnxZIba/+ZhfG1CD/u/HZ+ebEPoKs8kmBW3vQlguaz/UNxy59a02areuV4vlVsG5/Wt9y5DGxvd73k+q9W+OcIvVHldvEGj7vLaWqa5L6qd8ew+Mg3Pkoj7GgIhw0hSIRVEcdii1PrHn92Ts+OzD89Jrhut34WBH/rd4VaJVZXFzLYrqW4G479Lq3fxX7Ld9xMqgIZhQhihEd4x/8VF4vXuRM+m8t4U1GfzPsfrfbtov393iXUkag5AJBKREEV8AolIfcGEv3/Fe/vb6I9evB9dElkIfhoTChSkpopTJZMWFe9R911/dDHsD362h+8TjjfcEjRgVCYpCaKEqTgN0zhuEbAPDvBPhOomrxtIMeu6Nx1eOVjKuGCKsRZB+mL1vVWQbi7t9ZQmOqRUpUFMOaRaE+G3qS31/W+nHwvUp54p7qSGgiaSR9InvmQ69UNJWgTr87uNr/rAWYn+/r9reqejl8h6leQWt1v7sFl7kfzLkWtvyINPmZ2/Wh4w43zZaaS+FCFhsdYQMRFTEW1/EF+zu7OPTH65Cu6M+/+N/pKNKYH1JtCaxRGVSkUyRta3qOZs04ZtT1ehpb9x7WM7dqWB4Zi/rlNTzmw15RIGvIA1HRvkCi9UDd6TXZv6HxXu+zWLxd9LDWqXOiEAAA==&quot;"/>
    <we:property name="creatorSessionId" value="&quot;53432a80-91a1-4750-a0ce-675274b83758&quot;"/>
    <we:property name="creatorTenantId" value="&quot;bd697c1b-c481-479c-841e-c618542675c3&quot;"/>
    <we:property name="creatorUserId" value="&quot;10032003E0B78333&quot;"/>
    <we:property name="datasetId" value="&quot;e45200a1-02cd-4925-9b6d-27cb5a7ef4b2&quot;"/>
    <we:property name="embedUrl" value="&quot;/reportEmbed?reportId=5abd6940-4195-4c01-bea5-18c9d38016a8&amp;config=eyJjbHVzdGVyVXJsIjoiaHR0cHM6Ly9XQUJJLVVTLUVBU1QyLUMtUFJJTUFSWS1yZWRpcmVjdC5hbmFseXNpcy53aW5kb3dzLm5ldCIsImVtYmVkRmVhdHVyZXMiOnsidXNhZ2VNZXRyaWNzVk5leHQiOnRydWV9fQ%3D%3D&amp;disableSensitivityBanner=true&quot;"/>
    <we:property name="initialStateBookmark" value="&quot;H4sIAAAAAAAAA+1a32/bNhD+Vwa99MUYJFE/++Y47hC0sTM7K1YMgXEkj45aWTIoOokX5H/fibLXpHHsrIs7a+2jjqfj3X3fnXmUbx2ZVfMclgOYofPaOSrLTzPQn37ynI5TrGTD4dvT7ujtZNA97ZO4nJusLCrn9a1jQE/RvM+qBeS1BRL+cdFxIM/PYFo/Kcgr7Dhz1FVZQJ79iY0yLRm9wLuOgzfzvNRQmxwbMFibvSJ1eqa9vZ8Z7QjCZFc4RmEaqZKRx91IAIauDDFA5AmpVY2C9WyjSm3abt8rCwNZQdvUMi4g9JSK4pAJKUMRB35kbWS5Wass+zdzTdFRzMt5nZWuvIJCoHRsCBqrxuNbpzudapyCWT32Hyz2ynwx2yAflwstcITKLhUmM0va46Sg/QtrCvIjjdeoM8rqHaXtTJeUVKv162/dwfnJ+Qcrf7MoVlly68fL8rqnkdIqa0Hnb+97JJqWOhOQPwpgHz4ejbqD47Hz2KULklRZMc1XxPiM0Xnj6TVpaqJR3rsEbWr68Y+Ec40KvVpqifpoaYE5zvSaIX7nC98PCJS7izWhSf3jPcquMGmC2SsIF3f1SsqZKzhxPVYKw4jHjIdfT/t9OPyh3x1tIk3nAKvwbDR8c3K+uwZ3El5Y59rF9qeC/++4vqZOQ/Uk4CyhLi9c3xWRSt1A+C3q8M/l1jPqYu+97vArtTccv0SdVgIMbbexUDdy/ndLroMhD5Xm3qvwHjOaQlS+ChiTqRczwFQpn7u8RYX4/KPW7jYPWramv287zdj+6svYC8Gjs3aURsAjGbXpBP1yv91tAvXpH+1axJkXMZGkvhcmkYzTII3jFkF6b+D4HJz/f4f0qagbSKMA3TT2GTIUiklgUiQtgnTcfdcfT0b9s+8N1S2BN8CGPOHUgn3Xx4SnLo+46+4Etj1XAFWeCdQP4HJmqKf2rkiCARvWvNmq3rleL6VdRhv1rfMuIx8b2+8hX9RmXx3TG7K8Ll6RU+tUbjy52TeqbzeXi9QPpApRMD/lCIE6PDRH/V9OhoMfaG7JTIMmYSk8CNHDNAo9SFH49pZla44M3hhe3jzsULU1e8riitgBARMq8qOA7bSWzYCy+8iWT9SKBYtS4bkuKhUnaZvO4v98KG5Px2vppefhXQN90VpVkNCAAoFMYl8mqRszAS2i/GlZmMtJqSbmEidLBP29nYSekYDVQOq6CePIgiDxI5+FNJj+i9727UI5/NuzF5uV86zAH+3t5Um0uvEOwVXocRGEgnEhMYyDFnW6r/mmeRCfpnbSXpbFwrSL94f4LfP+9x1L+E3TRLkw1RwEnkGBG6YKYgkUssZt62RR/1HBsXsQkBnPd00ia/2Vc38BGRtw7mMhAAA=&quot;"/>
    <we:property name="isFiltersActionButtonVisible" value="true"/>
    <we:property name="isFooterCollapsed" value="true"/>
    <we:property name="isVisualContainerHeaderHidden" value="false"/>
    <we:property name="pageDisplayName" value="&quot;International Breweries  Dashboard&quot;"/>
    <we:property name="pageName" value="&quot;fd61b06cae50d5e4eeb8&quot;"/>
    <we:property name="reportEmbeddedTime" value="&quot;2025-02-28T14:19:25.615Z&quot;"/>
    <we:property name="reportName" value="&quot;Int&quot;"/>
    <we:property name="reportState" value="&quot;CONNECTED&quot;"/>
    <we:property name="reportUrl" value="&quot;/groups/me/reports/5abd6940-4195-4c01-bea5-18c9d38016a8/fd61b06cae50d5e4eeb8?bookmarkGuid=31b40be7-08be-46d9-960d-fa3cbd95ea74&amp;bookmarkUsage=1&amp;ctid=bd697c1b-c481-479c-841e-c618542675c3&amp;fromEntryPoint=export&quot;"/>
  </we:properties>
  <we:bindings/>
  <we:snapshot xmlns:r="http://schemas.openxmlformats.org/officeDocument/2006/relationships"/>
</we:webextension>
</file>

<file path=ppt/webextensions/webextension2.xml><?xml version="1.0" encoding="utf-8"?>
<we:webextension xmlns:we="http://schemas.microsoft.com/office/webextensions/webextension/2010/11" id="{3B719FE5-C7E1-4F1A-95FD-C466006C9D55}">
  <we:reference id="WA200003233" version="2.0.0.3" store="en-US" storeType="OMEX"/>
  <we:alternateReferences/>
  <we:properties>
    <we:property name="Microsoft.Office.CampaignId" value="&quot;none&quot;"/>
    <we:property name="artifactViewState" value="&quot;live&quot;"/>
    <we:property name="backgroundColor" value="&quot;#FFFFFF&quot;"/>
    <we:property name="bookmark" value="&quot;H4sIAAAAAAAAA81WTW/iMBD9KytfuESrhIaPcmspSGirtoJuV6uKw5BMgluTRLYpZVH++47tpIWWrtqV6O4FJePx+M2b5xc2LOaqELC+gAWyHjvN8/sFyPsvAfNY5mJ+EkHU6kZhp9OdIQbBLARazQvN80yx3oZpkCnqG66WIEwhCt5OPQZCXEFq3hIQCj1WoFR5BoL/QpdMS1ousfQYPhYil2BKTjRoNGUfKJ3eCULwNTCAINL8AScYaRfuhJ1uN242I8Sk3YbIh3hGacolWGh7U0xte34/zzTwjM4xseNueBR2/CRM2gDgQxg0fRNPuNBVymw9eCwktUdNrwvDTp/AprnkEQhm25CoHOoN6+diubBPg534JF/KCMeY2KVMc7023EuE+zhfZawkQq5kTnTtWZjnqz4FNMas55dTiiiepaJi9Lm3a4dPCR6hNPOa3REvtosF0rzMQ4rUu9lE/RTuQI7quefdp5t6Hk2PDWW+sNsq4Rje93TiMQeDgHrsxxwl2k3Ee8x1xcboBUOqSnkHd+7FHv8WZ1+GHEWsaJ0Q3IBYWnXSAedcu943LkybGo3GKKNoZnUIgoqsUBIjjcZt//L7xfV4NJhMG6bWtKSfsrRVFYpakq94VJqkoSd2QhObZ6JoRbQXg7kPrCxd+Vry1Njdlqif2jiIxIyk6MbPMR7a0Z85hxhpXLgzeWw7i2j3KHY6XxQguapVX79945kRqcfOMdGHuBDPw/XYmKdz/Qap7x9saUrteuJTAnMjaUVx3D469oNW8wiOW91OGM0+0Sb2N/KKovHJxdlkj2F4T5BO4gfIIoq+xHOSphJTqO/n4OBgr8aXw9G1jQ6XWXWV/D9h/2w6tzTwcQteUaakT6Doz0HqHSumrbmMUZ6urVjOuKydhDx28H9OxVjeXluqhrL+C2P6+BQM68W/PN/b8qfebbYUgkI/60eDDiQZSG0JO+Bq/z/IHwQyXXy0tiswS/Wc9QL3qTKLW9Iry98f8qQ8/gkAAA==&quot;"/>
    <we:property name="creatorSessionId" value="&quot;8acbc9a4-c7b8-409b-a1ae-10db13e79a6e&quot;"/>
    <we:property name="creatorTenantId" value="&quot;bd697c1b-c481-479c-841e-c618542675c3&quot;"/>
    <we:property name="creatorUserId" value="&quot;10032003E0B78333&quot;"/>
    <we:property name="datasetId" value="&quot;9fcd6de3-96fb-48b3-84d8-6ee1d6b00003&quot;"/>
    <we:property name="embedUrl" value="&quot;/reportEmbed?reportId=7a08fe6f-c5c4-451e-8081-a2ccd86a60d4&amp;config=eyJjbHVzdGVyVXJsIjoiaHR0cHM6Ly9XQUJJLVVTLUVBU1QyLUMtUFJJTUFSWS1yZWRpcmVjdC5hbmFseXNpcy53aW5kb3dzLm5ldCIsImVtYmVkRmVhdHVyZXMiOnsidXNhZ2VNZXRyaWNzVk5leHQiOnRydWV9fQ%3D%3D&amp;disableSensitivityBanner=true&quot;"/>
    <we:property name="initialStateBookmark" value="&quot;H4sIAAAAAAAAA81WUW/aMBD+K5VfeImmQClQ3oCChNoBgq7TVKHJjY/g1tiRY0oZyn/f2U5oYXSiD3R7iGSfz3ff3X13zoYwniaCrgd0AaRJ2ko9Lah+OiuTgMhcNhxef22Nr38OWl+7KFaJ4UqmpLkhhuoYzB1Pl1RYCyi8nwaECjGisd3NqEghIAnoVEkq+C/wynhk9BKygMBLIpSm1uTEUAPW7DOq4x59l7+ULRIaGf4ME4iMF9er9UaDVSoRwKxWo1FI2QOqpV7BQTuoYm07/x0lDeUS/VjZRcRY7fwyLF9UzunlRaNejZzujAuTqzysuy+JxvAw6HVi09JBsLHSPKKCuDA0pB71hnSUWC7cqrsjn6iljmAMM3ckDTdrtNSX6EW6FFDR1rACzTF5GWZnpBXmzmm1x63B1cRJ52rV0YD+GWmGWbCF1GLPVEYo3cfTimMNMTX5tntysKPxsNe/ddLeUuZlC/+G/bPT2Rl+G9yO+91DGZ2iJOUyFjlbX3lz68GuUFMjt0VnTrWxPfHwiNyzTMGrSjPQ7bUjyxXXBWsrwR78/6Yq2bRoMVR+fNNEeVF8KKeugs168i/9BwT16BNTK7R7L5dCoOhHsbToqMYhV4yEHXDgpsNHQb7622/2nQMuGbxgpQIiQMZmTpplzJY9uWxUz6v1cFad1SilIa2WK+EnTq4j8X+wu1LBI9A7XUUWgC+NXcSAU9tewngS79DWdRvz7uqueEmw+XpaLdy1/K2zL8aBSALiYYSWEN/noCFnn2S8aNX+XobS4wnqN879ezk763EQLPWUvKNi6d5VdHDDjY9948V4qVQqHWZ6qXS/Jfe0ZG1ZxtjPWk1BFGPpjzymBqlhJq5CE6dnpQXBD2CwLznJMm/+nUmyDeMkFLOUimg0B9Zzpb/yPzV9AwvvkzMXWYS3+8zzfIHdzNOC9cXuGnvNddoNzMwpGuK1uAEZ83hu3knq8YV1g2D3N+7NWJvmCod6SS1NmtAIRlTCASJgySlOHnZk+QPbxfxBwEfokmW/AeNMuJ6DCgAA&quot;"/>
    <we:property name="isFiltersActionButtonVisible" value="true"/>
    <we:property name="isFooterCollapsed" value="true"/>
    <we:property name="isVisualContainerHeaderHidden" value="false"/>
    <we:property name="pageDisplayName" value="&quot;Breakdown by Country/Region&quot;"/>
    <we:property name="pageName" value="&quot;74788d22ceef66ac0adb&quot;"/>
    <we:property name="reportEmbeddedTime" value="&quot;2025-02-24T19:19:41.849Z&quot;"/>
    <we:property name="reportName" value="&quot;Internationalbreweries&quot;"/>
    <we:property name="reportState" value="&quot;CONNECTED&quot;"/>
    <we:property name="reportUrl" value="&quot;/groups/me/reports/7a08fe6f-c5c4-451e-8081-a2ccd86a60d4/74788d22ceef66ac0adb?bookmarkGuid=fcd3e2fc-8fcc-498b-80ed-89faba58008a&amp;bookmarkUsage=1&amp;ctid=bd697c1b-c481-479c-841e-c618542675c3&amp;fromEntryPoint=export&quot;"/>
  </we:properties>
  <we:bindings/>
  <we:snapshot xmlns:r="http://schemas.openxmlformats.org/officeDocument/2006/relationships"/>
</we:webextension>
</file>

<file path=ppt/webextensions/webextension3.xml><?xml version="1.0" encoding="utf-8"?>
<we:webextension xmlns:we="http://schemas.microsoft.com/office/webextensions/webextension/2010/11" id="{C15C31A2-9591-417A-B92E-6C73E8E06A02}">
  <we:reference id="WA200003233" version="2.0.0.3" store="en-US" storeType="OMEX"/>
  <we:alternateReferences/>
  <we:properties>
    <we:property name="Microsoft.Office.CampaignId" value="&quot;none&quot;"/>
    <we:property name="artifactViewState" value="&quot;live&quot;"/>
    <we:property name="backgroundColor" value="&quot;#FFFFFF&quot;"/>
    <we:property name="bookmark" value="&quot;H4sIAAAAAAAAA81TTW+bQBD9K9WeUcWHDdi3mDpSDm2tOOqlsqwxDHiT9S4a1k6oxX/v7GJLTVu1p1bhxL55DO+9mT2LSnatgv4THFDMxcKYpwPQ07tIBEKPGGRhtQsn8S6PkyTOs7rCKVdNa6XRnZifhQVq0H6R3RGUa8Tg100gQKkVNO5Ug+owEC1SZzQo+Q1HMpcsHXEIBL60yhC4lmsLFl3bE9P5zBKi9wn/EUorT7jG0o4oC4rCOgmzcIf5BJM0ip2wbiR4Zb+lMF5LZbm7p/TLl5ZY8flqOCrDNJ7lkzrOojSPymkEFfe1feuqN9UJdIkOYdGE3ajxLAqjjgf/tnyFr82RSrzH2pe0lbbnNneaBWhvGNSC8BlJclQDZ7Eiw0l51kej7X5r6q3d47ZHIE/Ym+eCkFOqxDwaNoycfJwFs0Hqi7GwyuIyrmfZbJamSQ3TLP+D97fpLhyCv0u7aRrCBuzluPznulf3n2/vHjx6e9SXdQx/1e4m00ndqMu6+6X2bw+jJcXDKvZA1t2n3SMvrhsLf2WoQlr0fjIfJF1XPg5+cvFmrA+b6/1k8uMPN7DgMBpDo5X/tUSbwT+vQh2G77Luzg/tBAAA&quot;"/>
    <we:property name="creatorSessionId" value="&quot;4cad3ea2-c226-46f6-8ac5-ac92b972d864&quot;"/>
    <we:property name="creatorTenantId" value="&quot;bd697c1b-c481-479c-841e-c618542675c3&quot;"/>
    <we:property name="creatorUserId" value="&quot;10032003E0B78333&quot;"/>
    <we:property name="datasetId" value="&quot;9fcd6de3-96fb-48b3-84d8-6ee1d6b00003&quot;"/>
    <we:property name="embedUrl" value="&quot;/reportEmbed?reportId=7a08fe6f-c5c4-451e-8081-a2ccd86a60d4&amp;config=eyJjbHVzdGVyVXJsIjoiaHR0cHM6Ly9XQUJJLVVTLUVBU1QyLUMtUFJJTUFSWS1yZWRpcmVjdC5hbmFseXNpcy53aW5kb3dzLm5ldCIsImVtYmVkRmVhdHVyZXMiOnsidXNhZ2VNZXRyaWNzVk5leHQiOnRydWV9fQ%3D%3D&amp;disableSensitivityBanner=true&quot;"/>
    <we:property name="initialStateBookmark" value="&quot;H4sIAAAAAAAAA81UUW+bMBD+K5Of0QSkAZK3JEulqksTJVVfpii6wEHcOjYyJi2L+O87GyJ1W9XtZVN5wf7u4/x9d2fOLONVKaC5gyOyMZsq9XQE/fQpYB6TPbZc3i4m69vd3WQxJ1iVhitZsfGZGdAFmgde1SBsBgK/bT0GQqygsLscRIUeK1FXSoLg37EjU8joGluP4UsplAabcmPAoE17Ijrt6ezg84BOhNTwE24wNR26T8LAzwd+7O8xucJBFIRDolUdwSl7k0J4zoWh7I7SzF9KTYrPF6dB6kfhKLnKwziIkiAdBpBRXtOUNjrJTiBTtAiJ1lh1Gs9spkR9dKv5T/hG1TrFNeYuJA03DaW5kSRAOsMgphqfUXMqVUu1WGlFlXKshZLmsFP5zhxw1yBoRzio55lGqlLGxkG7JeTkyjkjNnDZG/OzOEzDfBSPRlE0yGEYJ+94/5ju/Nb7s7RJUWgswPTb+T/XvVovr2/uHXpdy34c/d+1285UXBaiH3c31G5131kS1KzZAbSx92n/SINr20JfKZ2hnjauM1+4vox86P3i4sNYb7eX+0nkx1c3cEbFKJTurPyvIdq27nldVHZE+knZhapNVUKKK5DoVJVdMpubwjRbIDPbQLfW9v2Vk5Kufw8gats6+99i7gzqKN8L/Et+L+4HJM+GP3IFAAA=&quot;"/>
    <we:property name="isFiltersActionButtonVisible" value="true"/>
    <we:property name="isFooterCollapsed" value="true"/>
    <we:property name="isVisualContainerHeaderHidden" value="false"/>
    <we:property name="pageDisplayName" value="&quot;Sales_trend&quot;"/>
    <we:property name="pageName" value="&quot;b8210f3070be84e36125&quot;"/>
    <we:property name="reportEmbeddedTime" value="&quot;2025-02-24T19:20:19.160Z&quot;"/>
    <we:property name="reportName" value="&quot;Internationalbreweries&quot;"/>
    <we:property name="reportState" value="&quot;CONNECTED&quot;"/>
    <we:property name="reportUrl" value="&quot;/groups/me/reports/7a08fe6f-c5c4-451e-8081-a2ccd86a60d4/b8210f3070be84e36125?bookmarkGuid=3992d954-5075-40d5-9bb1-0b93b97e20cc&amp;bookmarkUsage=1&amp;ctid=bd697c1b-c481-479c-841e-c618542675c3&amp;fromEntryPoint=export&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ocument_x0020_Purpose xmlns="f577acbf-5b0b-4b4f-9948-268e97f8d3a4">Informational</Document_x0020_Purpose>
    <Initiatives xmlns="f577acbf-5b0b-4b4f-9948-268e97f8d3a4"/>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D401524DC532D42A0E0ED886331A72B" ma:contentTypeVersion="15" ma:contentTypeDescription="Create a new document." ma:contentTypeScope="" ma:versionID="aba17d7263e5a17e1efe42a3571abb41">
  <xsd:schema xmlns:xsd="http://www.w3.org/2001/XMLSchema" xmlns:xs="http://www.w3.org/2001/XMLSchema" xmlns:p="http://schemas.microsoft.com/office/2006/metadata/properties" xmlns:ns2="f577acbf-5b0b-4b4f-9948-268e97f8d3a4" xmlns:ns3="b1e4d6ee-9f6f-43f8-a618-24f3d84da28f" targetNamespace="http://schemas.microsoft.com/office/2006/metadata/properties" ma:root="true" ma:fieldsID="e4e3c9c8ed1c3d723d02c9f1cb24d19a" ns2:_="" ns3:_="">
    <xsd:import namespace="f577acbf-5b0b-4b4f-9948-268e97f8d3a4"/>
    <xsd:import namespace="b1e4d6ee-9f6f-43f8-a618-24f3d84da2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3:LastSharedByUser" minOccurs="0"/>
                <xsd:element ref="ns3:LastSharedByTime" minOccurs="0"/>
                <xsd:element ref="ns2:Document_x0020_Purpose" minOccurs="0"/>
                <xsd:element ref="ns2:Initiatives" minOccurs="0"/>
                <xsd:element ref="ns2:MediaServiceDateTaken" minOccurs="0"/>
                <xsd:element ref="ns2:MediaServiceAutoTags" minOccurs="0"/>
                <xsd:element ref="ns2:MediaServiceOCR" minOccurs="0"/>
                <xsd:element ref="ns2:MediaServiceLocation" minOccurs="0"/>
                <xsd:element ref="ns2:MediaServiceEventHashCode" minOccurs="0"/>
                <xsd:element ref="ns2: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77acbf-5b0b-4b4f-9948-268e97f8d3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ocument_x0020_Purpose" ma:index="14" nillable="true" ma:displayName="Document Purpose" ma:default="Informational" ma:format="Dropdown" ma:internalName="Document_x0020_Purpose">
      <xsd:simpleType>
        <xsd:restriction base="dms:Choice">
          <xsd:enumeration value="Informational"/>
          <xsd:enumeration value="Feature Spec"/>
          <xsd:enumeration value="Engineering Design"/>
          <xsd:enumeration value="Planning"/>
        </xsd:restriction>
      </xsd:simpleType>
    </xsd:element>
    <xsd:element name="Initiatives" ma:index="15" nillable="true" ma:displayName="Initiatives" ma:description="List of initiatives related to this document" ma:internalName="Initiatives">
      <xsd:complexType>
        <xsd:complexContent>
          <xsd:extension base="dms:MultiChoice">
            <xsd:sequence>
              <xsd:element name="Value" maxOccurs="unbounded" minOccurs="0" nillable="true">
                <xsd:simpleType>
                  <xsd:restriction base="dms:Choice">
                    <xsd:enumeration value="Add-in MAU"/>
                    <xsd:enumeration value="Custom Functions"/>
                    <xsd:enumeration value="Data &amp; Analytics"/>
                    <xsd:enumeration value="DevEx: Portals &amp; Programs"/>
                    <xsd:enumeration value="DevEx: Tools &amp; Libraries"/>
                    <xsd:enumeration value="Engineering"/>
                    <xsd:enumeration value="Excel API"/>
                    <xsd:enumeration value="In-Market Support"/>
                    <xsd:enumeration value="Maker Access"/>
                    <xsd:enumeration value="SDX Runtime &amp; Partners"/>
                    <xsd:enumeration value="SDX Service Delivery"/>
                    <xsd:enumeration value="SDX API &amp; Pipeline"/>
                    <xsd:enumeration value="Shield &amp; OCE"/>
                  </xsd:restriction>
                </xsd:simpleType>
              </xsd:element>
            </xsd:sequence>
          </xsd:extension>
        </xsd:complexContent>
      </xsd:complex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MediaServiceAutoTags" ma:internalName="MediaServiceAutoTags" ma:readOnly="true">
      <xsd:simpleType>
        <xsd:restriction base="dms:Text"/>
      </xsd:simpleType>
    </xsd:element>
    <xsd:element name="MediaServiceOCR" ma:index="18" nillable="true" ma:displayName="MediaServiceOCR" ma:internalName="MediaServiceOCR" ma:readOnly="true">
      <xsd:simpleType>
        <xsd:restriction base="dms:Note">
          <xsd:maxLength value="255"/>
        </xsd:restriction>
      </xsd:simpleType>
    </xsd:element>
    <xsd:element name="MediaServiceLocation" ma:index="19" nillable="true" ma:displayName="MediaServiceLocation" ma:internalName="MediaServiceLocation"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e4d6ee-9f6f-43f8-a618-24f3d84da2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LastSharedByUser" ma:index="12" nillable="true" ma:displayName="Last Shared By User" ma:hidden="true" ma:internalName="LastSharedByUser" ma:readOnly="true">
      <xsd:simpleType>
        <xsd:restriction base="dms:Note"/>
      </xsd:simpleType>
    </xsd:element>
    <xsd:element name="LastSharedByTime" ma:index="13"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7AB1FA-2F28-4684-9230-02ACEB6C0B0A}">
  <ds:schemaRefs>
    <ds:schemaRef ds:uri="http://purl.org/dc/terms/"/>
    <ds:schemaRef ds:uri="http://purl.org/dc/dcmitype/"/>
    <ds:schemaRef ds:uri="b1e4d6ee-9f6f-43f8-a618-24f3d84da28f"/>
    <ds:schemaRef ds:uri="f577acbf-5b0b-4b4f-9948-268e97f8d3a4"/>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 ds:uri="http://purl.org/dc/elements/1.1/"/>
  </ds:schemaRefs>
</ds:datastoreItem>
</file>

<file path=customXml/itemProps2.xml><?xml version="1.0" encoding="utf-8"?>
<ds:datastoreItem xmlns:ds="http://schemas.openxmlformats.org/officeDocument/2006/customXml" ds:itemID="{1DD29C39-1C4E-4B06-A1F4-2510F2DACF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577acbf-5b0b-4b4f-9948-268e97f8d3a4"/>
    <ds:schemaRef ds:uri="b1e4d6ee-9f6f-43f8-a618-24f3d84da2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21AFCC0-734A-4A90-A597-A1CB34860D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3432</TotalTime>
  <Words>277</Words>
  <Application>Microsoft Office PowerPoint</Application>
  <PresentationFormat>Widescreen</PresentationFormat>
  <Paragraphs>22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Sakinah Oyeniran</cp:lastModifiedBy>
  <cp:revision>8</cp:revision>
  <dcterms:created xsi:type="dcterms:W3CDTF">2018-06-07T21:39:02Z</dcterms:created>
  <dcterms:modified xsi:type="dcterms:W3CDTF">2025-03-07T13:32:05Z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0x010100CD401524DC532D42A0E0ED886331A72B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t-dahop@microsoft.com</vt:lpwstr>
  </property>
  <property fmtid="{D5CDD505-2E9C-101B-9397-08002B2CF9AE}" pid="6" name="MSIP_Label_f42aa342-8706-4288-bd11-ebb85995028c_SetDate">
    <vt:lpwstr>2018-06-18T13:45:27.3782680Z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